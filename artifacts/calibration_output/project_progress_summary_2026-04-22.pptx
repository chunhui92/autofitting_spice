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B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13232"/>
            <a:ext cx="5394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FFFFFF"/>
                </a:solidFill>
                <a:latin typeface="PingFang SC"/>
              </a:rPr>
              <a:t>BSIM4 校准项目迭代总结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417320"/>
            <a:ext cx="6035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F0"/>
                </a:solidFill>
                <a:latin typeface="PingFang SC"/>
              </a:rPr>
              <a:t>从单脚本原型演进到可运行的多阶段校准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18470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F0"/>
                </a:solidFill>
                <a:latin typeface="PingFang SC"/>
              </a:rPr>
              <a:t>更新日期: 2026-04-22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542032"/>
            <a:ext cx="2377440" cy="141732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F3B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2706624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最新 worst-case error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054096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5.10%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529584"/>
            <a:ext cx="20482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目标仍为 42 个器件 x 6 指标全部 &lt; 3%。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82112" y="2542032"/>
            <a:ext cx="2011680" cy="141732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7A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46704" y="2706624"/>
            <a:ext cx="168249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训练点数量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46704" y="3054096"/>
            <a:ext cx="168249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46704" y="3529584"/>
            <a:ext cx="168249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当前默认目标 CSV 覆盖 42 个 W/L 训练点。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58384" y="2542032"/>
            <a:ext cx="2377440" cy="141732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22976" y="2706624"/>
            <a:ext cx="20482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当前结论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22976" y="3054096"/>
            <a:ext cx="20482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未达标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2976" y="3529584"/>
            <a:ext cx="2048256" cy="283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当前最佳结果约 5.10%，主瓶颈仍集中在漏电相关指标。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56448" y="658368"/>
            <a:ext cx="3364992" cy="5440680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749808"/>
            <a:ext cx="303580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参数趋势总览</a:t>
            </a:r>
          </a:p>
        </p:txBody>
      </p:sp>
      <p:pic>
        <p:nvPicPr>
          <p:cNvPr id="20" name="Picture 19" descr="parameter_trends_v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608" y="1097280"/>
            <a:ext cx="3090672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1. 项目迭代过程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5532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第一阶段：从早期单脚本原型，沉淀出按 src/ 组织的模块化校准工程。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第二阶段：完成目标数据读取、参数边界管理、连续参数曲面和 4 角点问题建模。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第三阶段：接入 pymoo / NSGA-II，多目标搜索角点参数，再用双线性曲面做初始化。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第四阶段：加入逐器件 bounded local tuning 和全局 refit，形成完整多阶段 pipeline。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第五阶段：补齐 CSV、Markdown、图表输出与单元测试，形成可验证的工程闭环。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当前阶段：围绕 leakage error 做诊断优化，并把趋势图和进展汇报材料纳入产物链路。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37960" y="987552"/>
            <a:ext cx="4983480" cy="5440680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02552" y="1078992"/>
            <a:ext cx="46542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当前参数随 W 变化</a:t>
            </a:r>
          </a:p>
        </p:txBody>
      </p:sp>
      <p:pic>
        <p:nvPicPr>
          <p:cNvPr id="7" name="Picture 6" descr="parameter_trends_v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26464"/>
            <a:ext cx="4709160" cy="48646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474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2. 整体技术方案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24128"/>
            <a:ext cx="5166360" cy="2999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输入层：读取 42 个 W/L 训练点目标数据，并基于参数边界定义可搜索空间。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建模层：用 4 角点参数编码尺寸依赖，再通过双线性曲面把角点扩展到整个 W/L 域。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优化层：先做 NSGA-II 多目标角点搜索，再做逐器件 bounded Powell + DE 局部微调。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泛化层：基于局部教师解执行全局 refit，形成可连续查询的参数曲面模型。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输出层：统一导出 params、metrics、error report、热图、趋势图和汇报材料。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4315968"/>
            <a:ext cx="2615184" cy="1426464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F3B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优化内核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48280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NSGA-II + local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303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角点阶段默认 pop_size=24, n_gen=8；局部阶段使用 Powell 与差分进化混合。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9584" y="4315968"/>
            <a:ext cx="2615184" cy="1426464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7A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94176" y="448055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连续模型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94176" y="4828031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Bilinear init + IDW refit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94176" y="530352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训练点上当前 refitted_global_params 与 local_tuned_params 一致，瓶颈更多在局部教师解。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" y="5504688"/>
            <a:ext cx="5358384" cy="91440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0976" y="5669279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当前难点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6016752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Leakage error 压降困难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6492240"/>
            <a:ext cx="5029200" cy="-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目前最难收敛的仍是 idoff_a 和 isoff_a，说明需要更聚焦的参数敏感度与预算策略。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9984" y="950976"/>
            <a:ext cx="4791456" cy="541324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94576" y="1042416"/>
            <a:ext cx="44622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技术方案示意图</a:t>
            </a:r>
          </a:p>
        </p:txBody>
      </p:sp>
      <p:pic>
        <p:nvPicPr>
          <p:cNvPr id="19" name="Picture 18" descr="pareto_fro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7144" y="1389888"/>
            <a:ext cx="4517136" cy="48371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3. 代码规模统计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024128"/>
            <a:ext cx="2121408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F3B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总代码行数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36192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3086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按 `src/`、`scripts/`、`tests/` 下全部 `.py` 文件统计。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90672" y="1024128"/>
            <a:ext cx="2121408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7A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55264" y="1188720"/>
            <a:ext cx="1792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Python 文件数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55264" y="1536192"/>
            <a:ext cx="17922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33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55264" y="2011680"/>
            <a:ext cx="179222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当前项目主要逻辑、入口和测试都已经模块化整理。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31536" y="1024128"/>
            <a:ext cx="2779776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1188720"/>
            <a:ext cx="24505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最大模块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128" y="1536192"/>
            <a:ext cx="24505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src/optimizer.py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96128" y="2011680"/>
            <a:ext cx="245059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当前行数最多的文件，承载端到端编排和多阶段校准主流程。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761488"/>
            <a:ext cx="4059936" cy="2011680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71216"/>
            <a:ext cx="37307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目录级统计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7355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src      files=17  lines=1840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65760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scripts  files= 3  lines= 482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04164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tests    files=13  lines= 764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10912" y="2761488"/>
            <a:ext cx="3803904" cy="3072384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75504" y="287121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Top 文件行数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327355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748  src/optimizer.py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3657600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454  scripts/build_progress_ppt.py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4041648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322  src/dataset_generator.py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4425696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221  tests/test_optimizer_corner_nsga.py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809744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173  src/plotting.py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12080" y="5193792"/>
            <a:ext cx="34015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 144  tests/test_plotting.py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2816352"/>
            <a:ext cx="2395728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7324D"/>
                </a:solidFill>
                <a:latin typeface="PingFang SC"/>
              </a:rPr>
              <a:t>当前代码量以 `src/` 为主，说明核心复杂度集中在校准、建模和报告生成链路。</a:t>
            </a:r>
          </a:p>
          <a:p>
            <a:pPr algn="l"/>
            <a:r>
              <a:rPr sz="1400">
                <a:solidFill>
                  <a:srgbClr val="17324D"/>
                </a:solidFill>
                <a:latin typeface="PingFang SC"/>
              </a:rPr>
              <a:t>测试代码约占总量的四分之一，说明工程已经具备较好的可验证性基础。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657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4. 工程化与验证状态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078992"/>
            <a:ext cx="2359152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2C7A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43584"/>
            <a:ext cx="20299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测试状态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02996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40 / 40 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66543"/>
            <a:ext cx="20299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仓库已验证从数学层测试到 PySpice-backed smoke test 的完整链路。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0128" y="1078992"/>
            <a:ext cx="2286000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7A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243584"/>
            <a:ext cx="19568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输出闭环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591056"/>
            <a:ext cx="195681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CSV + Markdown + 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066543"/>
            <a:ext cx="195681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历史上已生成 calibration_output 与 dataset_generation 两类产物。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97296" y="1078992"/>
            <a:ext cx="2871216" cy="1353312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F3B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243584"/>
            <a:ext cx="25420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运行入口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61888" y="1591056"/>
            <a:ext cx="25420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scripts/run_calibration.py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066543"/>
            <a:ext cx="2542032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建议继续使用 scripts/ 下标准入口，而不是兼容 wrapper。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2788920"/>
            <a:ext cx="5230368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当前 `spice` 环境已能跑通全量测试和真实仿真 smoke test。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新增趋势图与 PPT builder 后，校准结果和汇报材料都能跟随同一套输出目录更新。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本轮新增产物重点补上了参数随 W/L 变化的趋势视图，方便检查曲面形状是否符合预期。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920240"/>
            <a:ext cx="5212080" cy="4434840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011680"/>
            <a:ext cx="48828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参数随 L 变化</a:t>
            </a:r>
          </a:p>
        </p:txBody>
      </p:sp>
      <p:pic>
        <p:nvPicPr>
          <p:cNvPr id="19" name="Picture 18" descr="parameter_trends_v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2359152"/>
            <a:ext cx="4937760" cy="38587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200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5. 当前结果总览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042415"/>
            <a:ext cx="2212848" cy="132588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AA5B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207007"/>
            <a:ext cx="18836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worst-case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88366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5.10%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29967"/>
            <a:ext cx="1883664" cy="19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当前默认结果仍高于 3% 验收目标。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042415"/>
            <a:ext cx="2578608" cy="132588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E07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46704" y="1207007"/>
            <a:ext cx="22494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最强信号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46704" y="1554480"/>
            <a:ext cx="224942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漏电指标仍最难压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46704" y="2029967"/>
            <a:ext cx="2249424" cy="19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idoff_a 和 isoff_a 继续占据 top error 列表前列。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80176" y="1042415"/>
            <a:ext cx="2834640" cy="132588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7AC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44768" y="1207007"/>
            <a:ext cx="250545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建模判断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44768" y="1554480"/>
            <a:ext cx="250545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先提局部教师解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2029967"/>
            <a:ext cx="2505456" cy="1920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训练点上全局 refit 未明显拉高误差，优先级仍是局部解质量。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2743200"/>
            <a:ext cx="5559552" cy="303580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852928"/>
            <a:ext cx="5230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各指标 worst-case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55264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idoff_a     5.10%  @ W=0.56, L=1.5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639312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isoff_a     4.89%  @ W=0.56, L=1.5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" y="4023360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vtlin_v     4.30%  @ W=2.7, L=0.28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4407408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vtsat_v     4.28%  @ W=0.28, L=0.56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4791456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idlin_a     4.04%  @ W=1.5, L=0.056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" y="5175504"/>
            <a:ext cx="5157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idsat_a     3.85%  @ W=1.5, L=0.056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28816" y="1993392"/>
            <a:ext cx="4992624" cy="422452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7" y="208483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idoff target vs simulated</a:t>
            </a:r>
          </a:p>
        </p:txBody>
      </p:sp>
      <p:pic>
        <p:nvPicPr>
          <p:cNvPr id="26" name="Picture 25" descr="target_vs_simulated_idoff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976" y="2432304"/>
            <a:ext cx="4718304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2926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6. 误差热点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078992"/>
            <a:ext cx="5248656" cy="2697480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19"/>
            <a:ext cx="49194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Top error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50976" y="15910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1. idoff_a  5.10%  @ (0.56, 1.5)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197510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2. idoff_a  5.10%  @ (0.14, 0.028)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235915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3. isoff_a  4.89%  @ (0.56, 1.5)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74320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4. isoff_a  4.39%  @ (2.7, 0.28)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312724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5. idoff_a  4.36%  @ (0.28, 0.56)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1129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7324D"/>
                </a:solidFill>
                <a:latin typeface="Menlo"/>
              </a:rPr>
              <a:t>6. vtlin_v  4.30%  @ (2.7, 0.28)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4041648"/>
            <a:ext cx="5285232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最坏点集中在较小或中等尺寸组合，不是单纯的大尺寸外推问题。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当前直接给漏电指标加权并没有改善 worst-case，说明问题不只是目标函数权重配置。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更值得优先尝试的是增加角点搜索和局部精修预算，而不是先重写优化器。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19088" y="1024128"/>
            <a:ext cx="2414016" cy="523036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79" y="1115568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idoff heatmap</a:t>
            </a:r>
          </a:p>
        </p:txBody>
      </p:sp>
      <p:pic>
        <p:nvPicPr>
          <p:cNvPr id="15" name="Picture 14" descr="error_heatmap_idoff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463040"/>
            <a:ext cx="2139696" cy="4654296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9070848" y="1024128"/>
            <a:ext cx="2414016" cy="523036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115568"/>
            <a:ext cx="20848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isoff heatmap</a:t>
            </a:r>
          </a:p>
        </p:txBody>
      </p:sp>
      <p:pic>
        <p:nvPicPr>
          <p:cNvPr id="18" name="Picture 17" descr="error_heatmap_isoff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8008" y="1463040"/>
            <a:ext cx="2139696" cy="46542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7. 参数趋势图：随 W 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50976"/>
            <a:ext cx="4279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每个子图对应一个校准参数，横轴为 W，不同 L 为多条曲线。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该视图更适合检查宽度扩展时参数是否出现突跳或异常扭曲。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47088"/>
            <a:ext cx="10771632" cy="4370832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442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parameter_trends_vs_w.png</a:t>
            </a:r>
          </a:p>
        </p:txBody>
      </p:sp>
      <p:pic>
        <p:nvPicPr>
          <p:cNvPr id="7" name="Picture 6" descr="parameter_trends_vs_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86000"/>
            <a:ext cx="10497311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8. 参数趋势图：随 L 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950976"/>
            <a:ext cx="427939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每个子图横轴为 L，不同 W 为多条曲线。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与上一页组合后，可以更系统地判断参数曲面对尺寸的整体响应是否平滑一致。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847088"/>
            <a:ext cx="10771632" cy="4370832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38528"/>
            <a:ext cx="10442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parameter_trends_vs_l.png</a:t>
            </a:r>
          </a:p>
        </p:txBody>
      </p:sp>
      <p:pic>
        <p:nvPicPr>
          <p:cNvPr id="7" name="Picture 6" descr="parameter_trends_vs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86000"/>
            <a:ext cx="10497311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402336"/>
            <a:ext cx="3108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7324D"/>
                </a:solidFill>
                <a:latin typeface="PingFang SC"/>
              </a:rPr>
              <a:t>9. 下一步建议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6492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先固化当前默认基线和本轮带趋势图的结果目录，避免后续实验覆盖。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围绕 idoff_a / isoff_a 做更聚焦的敏感度分析，识别真正主导 leakage 的参数组合。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优先增加 NSGA-II 和局部 refinement 预算，再判断是否需要更强的 refit 或特化优化器。</a:t>
            </a:r>
          </a:p>
          <a:p>
            <a:pPr algn="l"/>
            <a:r>
              <a:rPr sz="1800">
                <a:solidFill>
                  <a:srgbClr val="17324D"/>
                </a:solidFill>
                <a:latin typeface="PingFang SC"/>
              </a:rPr>
              <a:t>如果后续要评估非训练点泛化，再单独加强全局连续模型，而不是与训练点拟合问题混在一起。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384" y="4919472"/>
            <a:ext cx="3931920" cy="1188720"/>
          </a:xfrm>
          <a:prstGeom prst="roundRect">
            <a:avLst/>
          </a:prstGeom>
          <a:solidFill>
            <a:srgbClr val="FFFDFC"/>
          </a:solidFill>
          <a:ln w="27432">
            <a:solidFill>
              <a:srgbClr val="F3B3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50976" y="5084064"/>
            <a:ext cx="36027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C6B73"/>
                </a:solidFill>
                <a:latin typeface="PingFang SC"/>
              </a:rPr>
              <a:t>建议优先级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50976" y="5431536"/>
            <a:ext cx="36027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17324D"/>
                </a:solidFill>
                <a:latin typeface="PingFang SC"/>
              </a:rPr>
              <a:t>预算提升 &gt; 漏电加权 &gt; 重写算法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" y="5907024"/>
            <a:ext cx="3602736" cy="54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B73"/>
                </a:solidFill>
                <a:latin typeface="PingFang SC"/>
              </a:rPr>
              <a:t>本轮实验已表明直接漏电加权会让 worst-case 变差。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62672" y="1078992"/>
            <a:ext cx="1883664" cy="230428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27264" y="1170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vtsat heatmap</a:t>
            </a:r>
          </a:p>
        </p:txBody>
      </p:sp>
      <p:pic>
        <p:nvPicPr>
          <p:cNvPr id="11" name="Picture 10" descr="error_heatmap_vtsat_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517904"/>
            <a:ext cx="1609344" cy="172821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9637776" y="1078992"/>
            <a:ext cx="1883664" cy="2304288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02367" y="117043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vtlin heatmap</a:t>
            </a:r>
          </a:p>
        </p:txBody>
      </p:sp>
      <p:pic>
        <p:nvPicPr>
          <p:cNvPr id="14" name="Picture 13" descr="error_heatmap_vtlin_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936" y="1517904"/>
            <a:ext cx="1609344" cy="1728216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662672" y="3675887"/>
            <a:ext cx="3858768" cy="2432304"/>
          </a:xfrm>
          <a:prstGeom prst="roundRect">
            <a:avLst/>
          </a:prstGeom>
          <a:solidFill>
            <a:srgbClr val="FFFDFC"/>
          </a:solidFill>
          <a:ln>
            <a:solidFill>
              <a:srgbClr val="D9CD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27264" y="3767327"/>
            <a:ext cx="3529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7324D"/>
                </a:solidFill>
                <a:latin typeface="PingFang SC"/>
              </a:rPr>
              <a:t>pareto front</a:t>
            </a:r>
          </a:p>
        </p:txBody>
      </p:sp>
      <p:pic>
        <p:nvPicPr>
          <p:cNvPr id="17" name="Picture 16" descr="pareto_fro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4114800"/>
            <a:ext cx="3584448" cy="18562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BSIM4 Calibration Progress Summary</dc:title>
  <dc:subject>Project progress and calibration results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