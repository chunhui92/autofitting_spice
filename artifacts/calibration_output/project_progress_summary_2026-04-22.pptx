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PingFang SC"/>
              </a:rPr>
              <a:t>BSIM4 校准项目迭代总结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41732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8E6F0"/>
                </a:solidFill>
                <a:latin typeface="PingFang SC"/>
              </a:rPr>
              <a:t>从单脚本原型演进到可运行的多阶段校准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8470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8E6F0"/>
                </a:solidFill>
                <a:latin typeface="PingFang SC"/>
              </a:rPr>
              <a:t>更新日期: 2026-04-22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542032"/>
            <a:ext cx="2377440" cy="1417320"/>
          </a:xfrm>
          <a:prstGeom prst="roundRect">
            <a:avLst/>
          </a:prstGeom>
          <a:solidFill>
            <a:srgbClr val="FFFDFC"/>
          </a:solidFill>
          <a:ln w="27432">
            <a:solidFill>
              <a:srgbClr val="F3B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706624"/>
            <a:ext cx="20482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C6B73"/>
                </a:solidFill>
                <a:latin typeface="PingFang SC"/>
              </a:rPr>
              <a:t>最新 worst-case 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54096"/>
            <a:ext cx="20482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7324D"/>
                </a:solidFill>
                <a:latin typeface="PingFang SC"/>
              </a:rPr>
              <a:t>5.10%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29584"/>
            <a:ext cx="204825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PingFang SC"/>
              </a:rPr>
              <a:t>目标仍为 42 个器件 x 6 指标全部 &lt; 3%。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82112" y="2542032"/>
            <a:ext cx="2011680" cy="1417320"/>
          </a:xfrm>
          <a:prstGeom prst="roundRect">
            <a:avLst/>
          </a:prstGeom>
          <a:solidFill>
            <a:srgbClr val="FFFDFC"/>
          </a:solidFill>
          <a:ln w="27432">
            <a:solidFill>
              <a:srgbClr val="7A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46704" y="2706624"/>
            <a:ext cx="16824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C6B73"/>
                </a:solidFill>
                <a:latin typeface="PingFang SC"/>
              </a:rPr>
              <a:t>训练点数量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3054096"/>
            <a:ext cx="16824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7324D"/>
                </a:solidFill>
                <a:latin typeface="PingFang SC"/>
              </a:rPr>
              <a:t>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3529584"/>
            <a:ext cx="168249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PingFang SC"/>
              </a:rPr>
              <a:t>当前默认目标 CSV 覆盖 42 个 W/L 训练点。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58384" y="2542032"/>
            <a:ext cx="2377440" cy="1417320"/>
          </a:xfrm>
          <a:prstGeom prst="roundRect">
            <a:avLst/>
          </a:prstGeom>
          <a:solidFill>
            <a:srgbClr val="FFFDFC"/>
          </a:solidFill>
          <a:ln w="27432">
            <a:solidFill>
              <a:srgbClr val="E07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22976" y="2706624"/>
            <a:ext cx="20482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C6B73"/>
                </a:solidFill>
                <a:latin typeface="PingFang SC"/>
              </a:rPr>
              <a:t>当前结论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2976" y="3054096"/>
            <a:ext cx="20482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7324D"/>
                </a:solidFill>
                <a:latin typeface="PingFang SC"/>
              </a:rPr>
              <a:t>未达标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2976" y="3529584"/>
            <a:ext cx="204825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PingFang SC"/>
              </a:rPr>
              <a:t>当前最佳结果约 5.10%，主瓶颈仍集中在漏电相关指标。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6448" y="658368"/>
            <a:ext cx="3364992" cy="5440680"/>
          </a:xfrm>
          <a:prstGeom prst="roundRect">
            <a:avLst/>
          </a:prstGeom>
          <a:solidFill>
            <a:srgbClr val="FFFDFC"/>
          </a:solidFill>
          <a:ln>
            <a:solidFill>
              <a:srgbClr val="D9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749808"/>
            <a:ext cx="3035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324D"/>
                </a:solidFill>
                <a:latin typeface="PingFang SC"/>
              </a:rPr>
              <a:t>参数趋势总览</a:t>
            </a:r>
          </a:p>
        </p:txBody>
      </p:sp>
      <p:pic>
        <p:nvPicPr>
          <p:cNvPr id="20" name="Picture 19" descr="parameter_trends_v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08" y="1097280"/>
            <a:ext cx="3090672" cy="4864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7324D"/>
                </a:solidFill>
                <a:latin typeface="PingFang SC"/>
              </a:rPr>
              <a:t>1. 项目迭代过程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78992"/>
            <a:ext cx="5532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第一阶段：从早期单脚本原型，沉淀出按 src/ 组织的模块化校准工程。</a:t>
            </a:r>
          </a:p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第二阶段：完成目标数据读取、参数边界管理、连续参数曲面和 4 角点问题建模。</a:t>
            </a:r>
          </a:p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第三阶段：接入 pymoo / NSGA-II，多目标搜索角点参数，再用双线性曲面做初始化。</a:t>
            </a:r>
          </a:p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第四阶段：加入逐器件 bounded local tuning 和全局 refit，形成完整多阶段 pipeline。</a:t>
            </a:r>
          </a:p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第五阶段：补齐 CSV、Markdown、图表输出与单元测试，形成可验证的工程闭环。</a:t>
            </a:r>
          </a:p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当前阶段：围绕 leakage error 做诊断优化，并把趋势图和进展汇报材料纳入产物链路。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37960" y="987552"/>
            <a:ext cx="4983480" cy="5440680"/>
          </a:xfrm>
          <a:prstGeom prst="roundRect">
            <a:avLst/>
          </a:prstGeom>
          <a:solidFill>
            <a:srgbClr val="FFFDFC"/>
          </a:solidFill>
          <a:ln>
            <a:solidFill>
              <a:srgbClr val="D9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02552" y="1078992"/>
            <a:ext cx="4654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324D"/>
                </a:solidFill>
                <a:latin typeface="PingFang SC"/>
              </a:rPr>
              <a:t>当前参数随 W 变化</a:t>
            </a:r>
          </a:p>
        </p:txBody>
      </p:sp>
      <p:pic>
        <p:nvPicPr>
          <p:cNvPr id="7" name="Picture 6" descr="parameter_trends_v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26464"/>
            <a:ext cx="4709160" cy="4864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7324D"/>
                </a:solidFill>
                <a:latin typeface="PingFang SC"/>
              </a:rPr>
              <a:t>2. 当前校准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42415"/>
            <a:ext cx="4983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目标数据按 W/L 尺寸索引，形成 42 个训练点。</a:t>
            </a:r>
          </a:p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4 角点多目标优化负责找出一组可行角点参数。</a:t>
            </a:r>
          </a:p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从角点构造连续参数曲面，为所有尺寸生成初始化参数。</a:t>
            </a:r>
          </a:p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逐器件进行 bounded Powell + DE 的局部精修，提升教师解质量。</a:t>
            </a:r>
          </a:p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基于局部教师解重新拟合全局连续模型，输出 calibrated params / metrics / plots。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" y="4443984"/>
            <a:ext cx="2670048" cy="1426464"/>
          </a:xfrm>
          <a:prstGeom prst="roundRect">
            <a:avLst/>
          </a:prstGeom>
          <a:solidFill>
            <a:srgbClr val="FFFDFC"/>
          </a:solidFill>
          <a:ln w="27432">
            <a:solidFill>
              <a:srgbClr val="F3B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4608576"/>
            <a:ext cx="23408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C6B73"/>
                </a:solidFill>
                <a:latin typeface="PingFang SC"/>
              </a:rPr>
              <a:t>优化内核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4956048"/>
            <a:ext cx="23408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7324D"/>
                </a:solidFill>
                <a:latin typeface="PingFang SC"/>
              </a:rPr>
              <a:t>NSGA-II + local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5431536"/>
            <a:ext cx="2340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PingFang SC"/>
              </a:rPr>
              <a:t>角点阶段默认 pop_size=24, n_gen=8；局部阶段使用 Powell 与差分进化混合。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9312" y="4443984"/>
            <a:ext cx="2816352" cy="1426464"/>
          </a:xfrm>
          <a:prstGeom prst="roundRect">
            <a:avLst/>
          </a:prstGeom>
          <a:solidFill>
            <a:srgbClr val="FFFDFC"/>
          </a:solidFill>
          <a:ln w="27432">
            <a:solidFill>
              <a:srgbClr val="7A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03904" y="4608576"/>
            <a:ext cx="2487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C6B73"/>
                </a:solidFill>
                <a:latin typeface="PingFang SC"/>
              </a:rPr>
              <a:t>连续模型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3904" y="4956048"/>
            <a:ext cx="24871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7324D"/>
                </a:solidFill>
                <a:latin typeface="PingFang SC"/>
              </a:rPr>
              <a:t>Bilinear init + IDW refit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3904" y="5431536"/>
            <a:ext cx="2487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PingFang SC"/>
              </a:rPr>
              <a:t>训练点上当前 refitted_global_params 与 local_tuned_params 一致，瓶颈更多在局部教师解。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11696" y="950976"/>
            <a:ext cx="4828032" cy="5285232"/>
          </a:xfrm>
          <a:prstGeom prst="roundRect">
            <a:avLst/>
          </a:prstGeom>
          <a:solidFill>
            <a:srgbClr val="FFFDFC"/>
          </a:solidFill>
          <a:ln>
            <a:solidFill>
              <a:srgbClr val="D9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76288" y="1042416"/>
            <a:ext cx="44988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324D"/>
                </a:solidFill>
                <a:latin typeface="PingFang SC"/>
              </a:rPr>
              <a:t>漏电误差热图</a:t>
            </a:r>
          </a:p>
        </p:txBody>
      </p:sp>
      <p:pic>
        <p:nvPicPr>
          <p:cNvPr id="15" name="Picture 14" descr="error_heatmap_idoff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8856" y="1389888"/>
            <a:ext cx="4553712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7324D"/>
                </a:solidFill>
                <a:latin typeface="PingFang SC"/>
              </a:rPr>
              <a:t>3. 工程化与验证状态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8" y="1078992"/>
            <a:ext cx="2359152" cy="1353312"/>
          </a:xfrm>
          <a:prstGeom prst="roundRect">
            <a:avLst/>
          </a:prstGeom>
          <a:solidFill>
            <a:srgbClr val="FFFDFC"/>
          </a:solidFill>
          <a:ln w="27432">
            <a:solidFill>
              <a:srgbClr val="2C7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43584"/>
            <a:ext cx="2029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C6B73"/>
                </a:solidFill>
                <a:latin typeface="PingFang SC"/>
              </a:rPr>
              <a:t>测试状态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91056"/>
            <a:ext cx="20299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7324D"/>
                </a:solidFill>
                <a:latin typeface="PingFang SC"/>
              </a:rPr>
              <a:t>40 / 40 通过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66543"/>
            <a:ext cx="20299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PingFang SC"/>
              </a:rPr>
              <a:t>仓库已验证从数学层测试到 PySpice-backed smoke test 的完整链路。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1078992"/>
            <a:ext cx="2286000" cy="1353312"/>
          </a:xfrm>
          <a:prstGeom prst="roundRect">
            <a:avLst/>
          </a:prstGeom>
          <a:solidFill>
            <a:srgbClr val="FFFDFC"/>
          </a:solidFill>
          <a:ln w="27432">
            <a:solidFill>
              <a:srgbClr val="7A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243584"/>
            <a:ext cx="19568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C6B73"/>
                </a:solidFill>
                <a:latin typeface="PingFang SC"/>
              </a:rPr>
              <a:t>输出闭环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591056"/>
            <a:ext cx="1956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7324D"/>
                </a:solidFill>
                <a:latin typeface="PingFang SC"/>
              </a:rPr>
              <a:t>CSV + Markdown + 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066543"/>
            <a:ext cx="19568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PingFang SC"/>
              </a:rPr>
              <a:t>历史上已生成 calibration_output 与 dataset_generation 两类产物。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97296" y="1078992"/>
            <a:ext cx="2871216" cy="1353312"/>
          </a:xfrm>
          <a:prstGeom prst="roundRect">
            <a:avLst/>
          </a:prstGeom>
          <a:solidFill>
            <a:srgbClr val="FFFDFC"/>
          </a:solidFill>
          <a:ln w="27432">
            <a:solidFill>
              <a:srgbClr val="F3B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1888" y="1243584"/>
            <a:ext cx="25420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C6B73"/>
                </a:solidFill>
                <a:latin typeface="PingFang SC"/>
              </a:rPr>
              <a:t>运行入口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1591056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7324D"/>
                </a:solidFill>
                <a:latin typeface="PingFang SC"/>
              </a:rPr>
              <a:t>scripts/run_calibration.py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1888" y="2066543"/>
            <a:ext cx="25420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PingFang SC"/>
              </a:rPr>
              <a:t>建议继续使用 scripts/ 下标准入口，而不是兼容 wrapper。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788920"/>
            <a:ext cx="52303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当前 `spice` 环境已能跑通全量测试和真实仿真 smoke test。</a:t>
            </a:r>
          </a:p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新增趋势图与 PPT builder 后，校准结果和汇报材料都能跟随同一套输出目录更新。</a:t>
            </a:r>
          </a:p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本轮新增产物重点补上了参数随 W/L 变化的趋势视图，方便检查曲面形状是否符合预期。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920240"/>
            <a:ext cx="5212080" cy="4434840"/>
          </a:xfrm>
          <a:prstGeom prst="roundRect">
            <a:avLst/>
          </a:prstGeom>
          <a:solidFill>
            <a:srgbClr val="FFFDFC"/>
          </a:solidFill>
          <a:ln>
            <a:solidFill>
              <a:srgbClr val="D9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2011680"/>
            <a:ext cx="4882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324D"/>
                </a:solidFill>
                <a:latin typeface="PingFang SC"/>
              </a:rPr>
              <a:t>参数随 L 变化</a:t>
            </a:r>
          </a:p>
        </p:txBody>
      </p:sp>
      <p:pic>
        <p:nvPicPr>
          <p:cNvPr id="19" name="Picture 18" descr="parameter_trends_vs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359152"/>
            <a:ext cx="4937760" cy="38587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7324D"/>
                </a:solidFill>
                <a:latin typeface="PingFang SC"/>
              </a:rPr>
              <a:t>4. 当前结果总览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8" y="1042415"/>
            <a:ext cx="2212848" cy="1325880"/>
          </a:xfrm>
          <a:prstGeom prst="roundRect">
            <a:avLst/>
          </a:prstGeom>
          <a:solidFill>
            <a:srgbClr val="FFFDFC"/>
          </a:solidFill>
          <a:ln w="27432">
            <a:solidFill>
              <a:srgbClr val="AA5B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07007"/>
            <a:ext cx="18836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C6B73"/>
                </a:solidFill>
                <a:latin typeface="PingFang SC"/>
              </a:rPr>
              <a:t>worst-case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8836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7324D"/>
                </a:solidFill>
                <a:latin typeface="PingFang SC"/>
              </a:rPr>
              <a:t>5.10%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29967"/>
            <a:ext cx="1883664" cy="192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PingFang SC"/>
              </a:rPr>
              <a:t>当前默认结果仍高于 3% 验收目标。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82112" y="1042415"/>
            <a:ext cx="2578608" cy="1325880"/>
          </a:xfrm>
          <a:prstGeom prst="roundRect">
            <a:avLst/>
          </a:prstGeom>
          <a:solidFill>
            <a:srgbClr val="FFFDFC"/>
          </a:solidFill>
          <a:ln w="27432">
            <a:solidFill>
              <a:srgbClr val="E07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6704" y="1207007"/>
            <a:ext cx="22494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C6B73"/>
                </a:solidFill>
                <a:latin typeface="PingFang SC"/>
              </a:rPr>
              <a:t>最强信号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6704" y="1554480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7324D"/>
                </a:solidFill>
                <a:latin typeface="PingFang SC"/>
              </a:rPr>
              <a:t>漏电指标仍最难压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4" y="2029967"/>
            <a:ext cx="2249424" cy="192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PingFang SC"/>
              </a:rPr>
              <a:t>idoff_a 和 isoff_a 继续占据 top error 列表前列。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0176" y="1042415"/>
            <a:ext cx="2834640" cy="1325880"/>
          </a:xfrm>
          <a:prstGeom prst="roundRect">
            <a:avLst/>
          </a:prstGeom>
          <a:solidFill>
            <a:srgbClr val="FFFDFC"/>
          </a:solidFill>
          <a:ln w="27432">
            <a:solidFill>
              <a:srgbClr val="7AC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1207007"/>
            <a:ext cx="2505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C6B73"/>
                </a:solidFill>
                <a:latin typeface="PingFang SC"/>
              </a:rPr>
              <a:t>建模判断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1554480"/>
            <a:ext cx="25054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7324D"/>
                </a:solidFill>
                <a:latin typeface="PingFang SC"/>
              </a:rPr>
              <a:t>先提局部教师解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44768" y="2029967"/>
            <a:ext cx="2505456" cy="192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PingFang SC"/>
              </a:rPr>
              <a:t>训练点上全局 refit 未明显拉高误差，优先级仍是局部解质量。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2743200"/>
            <a:ext cx="5559552" cy="3035808"/>
          </a:xfrm>
          <a:prstGeom prst="roundRect">
            <a:avLst/>
          </a:prstGeom>
          <a:solidFill>
            <a:srgbClr val="FFFDFC"/>
          </a:solidFill>
          <a:ln>
            <a:solidFill>
              <a:srgbClr val="D9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852928"/>
            <a:ext cx="5230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324D"/>
                </a:solidFill>
                <a:latin typeface="PingFang SC"/>
              </a:rPr>
              <a:t>各指标 worst-case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" y="3255264"/>
            <a:ext cx="51572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Menlo"/>
              </a:rPr>
              <a:t>idoff_a     5.10%  @ W=0.56, L=1.5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3639312"/>
            <a:ext cx="51572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Menlo"/>
              </a:rPr>
              <a:t>isoff_a     4.89%  @ W=0.56, L=1.5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4023360"/>
            <a:ext cx="51572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Menlo"/>
              </a:rPr>
              <a:t>vtlin_v     4.30%  @ W=2.7, L=0.28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07408"/>
            <a:ext cx="51572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Menlo"/>
              </a:rPr>
              <a:t>vtsat_v     4.28%  @ W=0.28, L=0.56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" y="4791456"/>
            <a:ext cx="51572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Menlo"/>
              </a:rPr>
              <a:t>idlin_a     4.04%  @ W=1.5, L=0.056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" y="5175504"/>
            <a:ext cx="51572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Menlo"/>
              </a:rPr>
              <a:t>idsat_a     3.85%  @ W=1.5, L=0.056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28816" y="1993392"/>
            <a:ext cx="4992624" cy="4224528"/>
          </a:xfrm>
          <a:prstGeom prst="roundRect">
            <a:avLst/>
          </a:prstGeom>
          <a:solidFill>
            <a:srgbClr val="FFFDFC"/>
          </a:solidFill>
          <a:ln>
            <a:solidFill>
              <a:srgbClr val="D9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7" y="208483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324D"/>
                </a:solidFill>
                <a:latin typeface="PingFang SC"/>
              </a:rPr>
              <a:t>idoff target vs simulated</a:t>
            </a:r>
          </a:p>
        </p:txBody>
      </p:sp>
      <p:pic>
        <p:nvPicPr>
          <p:cNvPr id="26" name="Picture 25" descr="target_vs_simulated_idoff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976" y="2432304"/>
            <a:ext cx="4718304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2926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7324D"/>
                </a:solidFill>
                <a:latin typeface="PingFang SC"/>
              </a:rPr>
              <a:t>5. 误差热点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8" y="1078992"/>
            <a:ext cx="5248656" cy="2697480"/>
          </a:xfrm>
          <a:prstGeom prst="roundRect">
            <a:avLst/>
          </a:prstGeom>
          <a:solidFill>
            <a:srgbClr val="FFFDFC"/>
          </a:solidFill>
          <a:ln>
            <a:solidFill>
              <a:srgbClr val="D9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19"/>
            <a:ext cx="4919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324D"/>
                </a:solidFill>
                <a:latin typeface="PingFang SC"/>
              </a:rPr>
              <a:t>Top error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1591056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Menlo"/>
              </a:rPr>
              <a:t>1. idoff_a  5.10%  @ (0.56, 1.5)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1975104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Menlo"/>
              </a:rPr>
              <a:t>2. idoff_a  5.10%  @ (0.14, 0.028)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359152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Menlo"/>
              </a:rPr>
              <a:t>3. isoff_a  4.89%  @ (0.56, 1.5)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743200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Menlo"/>
              </a:rPr>
              <a:t>4. isoff_a  4.39%  @ (2.7, 0.28)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12724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Menlo"/>
              </a:rPr>
              <a:t>5. idoff_a  4.36%  @ (0.28, 0.56)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511296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Menlo"/>
              </a:rPr>
              <a:t>6. vtlin_v  4.30%  @ (2.7, 0.28)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4041648"/>
            <a:ext cx="5285232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最坏点集中在较小或中等尺寸组合，不是单纯的大尺寸外推问题。</a:t>
            </a:r>
          </a:p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当前直接给漏电指标加权并没有改善 worst-case，说明问题不只是目标函数权重配置。</a:t>
            </a:r>
          </a:p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更值得优先尝试的是增加角点搜索和局部精修预算，而不是先重写优化器。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9088" y="1024128"/>
            <a:ext cx="2414016" cy="5230368"/>
          </a:xfrm>
          <a:prstGeom prst="roundRect">
            <a:avLst/>
          </a:prstGeom>
          <a:solidFill>
            <a:srgbClr val="FFFDFC"/>
          </a:solidFill>
          <a:ln>
            <a:solidFill>
              <a:srgbClr val="D9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79" y="1115568"/>
            <a:ext cx="2084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324D"/>
                </a:solidFill>
                <a:latin typeface="PingFang SC"/>
              </a:rPr>
              <a:t>idoff heatmap</a:t>
            </a:r>
          </a:p>
        </p:txBody>
      </p:sp>
      <p:pic>
        <p:nvPicPr>
          <p:cNvPr id="15" name="Picture 14" descr="error_heatmap_idoff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1463040"/>
            <a:ext cx="2139696" cy="465429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9070848" y="1024128"/>
            <a:ext cx="2414016" cy="5230368"/>
          </a:xfrm>
          <a:prstGeom prst="roundRect">
            <a:avLst/>
          </a:prstGeom>
          <a:solidFill>
            <a:srgbClr val="FFFDFC"/>
          </a:solidFill>
          <a:ln>
            <a:solidFill>
              <a:srgbClr val="D9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115568"/>
            <a:ext cx="2084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324D"/>
                </a:solidFill>
                <a:latin typeface="PingFang SC"/>
              </a:rPr>
              <a:t>isoff heatmap</a:t>
            </a:r>
          </a:p>
        </p:txBody>
      </p:sp>
      <p:pic>
        <p:nvPicPr>
          <p:cNvPr id="18" name="Picture 17" descr="error_heatmap_isoff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8008" y="1463040"/>
            <a:ext cx="2139696" cy="46542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7324D"/>
                </a:solidFill>
                <a:latin typeface="PingFang SC"/>
              </a:rPr>
              <a:t>6. 参数趋势图：随 W 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50976"/>
            <a:ext cx="42793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每个子图对应一个校准参数，横轴为 W，不同 L 为多条曲线。</a:t>
            </a:r>
          </a:p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该视图更适合检查宽度扩展时参数是否出现突跳或异常扭曲。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847088"/>
            <a:ext cx="10771632" cy="4370832"/>
          </a:xfrm>
          <a:prstGeom prst="roundRect">
            <a:avLst/>
          </a:prstGeom>
          <a:solidFill>
            <a:srgbClr val="FFFDFC"/>
          </a:solidFill>
          <a:ln>
            <a:solidFill>
              <a:srgbClr val="D9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10442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324D"/>
                </a:solidFill>
                <a:latin typeface="PingFang SC"/>
              </a:rPr>
              <a:t>parameter_trends_vs_w.png</a:t>
            </a:r>
          </a:p>
        </p:txBody>
      </p:sp>
      <p:pic>
        <p:nvPicPr>
          <p:cNvPr id="7" name="Picture 6" descr="parameter_trends_v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286000"/>
            <a:ext cx="10497311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7324D"/>
                </a:solidFill>
                <a:latin typeface="PingFang SC"/>
              </a:rPr>
              <a:t>7. 参数趋势图：随 L 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50976"/>
            <a:ext cx="42793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每个子图横轴为 L，不同 W 为多条曲线。</a:t>
            </a:r>
          </a:p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与上一页组合后，可以更系统地判断参数曲面对尺寸的整体响应是否平滑一致。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847088"/>
            <a:ext cx="10771632" cy="4370832"/>
          </a:xfrm>
          <a:prstGeom prst="roundRect">
            <a:avLst/>
          </a:prstGeom>
          <a:solidFill>
            <a:srgbClr val="FFFDFC"/>
          </a:solidFill>
          <a:ln>
            <a:solidFill>
              <a:srgbClr val="D9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10442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324D"/>
                </a:solidFill>
                <a:latin typeface="PingFang SC"/>
              </a:rPr>
              <a:t>parameter_trends_vs_l.png</a:t>
            </a:r>
          </a:p>
        </p:txBody>
      </p:sp>
      <p:pic>
        <p:nvPicPr>
          <p:cNvPr id="7" name="Picture 6" descr="parameter_trends_vs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286000"/>
            <a:ext cx="10497311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3108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7324D"/>
                </a:solidFill>
                <a:latin typeface="PingFang SC"/>
              </a:rPr>
              <a:t>8. 下一步建议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78992"/>
            <a:ext cx="6492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先固化当前默认基线和本轮带趋势图的结果目录，避免后续实验覆盖。</a:t>
            </a:r>
          </a:p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围绕 idoff_a / isoff_a 做更聚焦的敏感度分析，识别真正主导 leakage 的参数组合。</a:t>
            </a:r>
          </a:p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优先增加 NSGA-II 和局部 refinement 预算，再判断是否需要更强的 refit 或特化优化器。</a:t>
            </a:r>
          </a:p>
          <a:p>
            <a:pPr algn="l"/>
            <a:r>
              <a:rPr sz="1800">
                <a:solidFill>
                  <a:srgbClr val="17324D"/>
                </a:solidFill>
                <a:latin typeface="PingFang SC"/>
              </a:rPr>
              <a:t>如果后续要评估非训练点泛化，再单独加强全局连续模型，而不是与训练点拟合问题混在一起。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" y="4919472"/>
            <a:ext cx="3931920" cy="1188720"/>
          </a:xfrm>
          <a:prstGeom prst="roundRect">
            <a:avLst/>
          </a:prstGeom>
          <a:solidFill>
            <a:srgbClr val="FFFDFC"/>
          </a:solidFill>
          <a:ln w="27432">
            <a:solidFill>
              <a:srgbClr val="F3B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5084064"/>
            <a:ext cx="3602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C6B73"/>
                </a:solidFill>
                <a:latin typeface="PingFang SC"/>
              </a:rPr>
              <a:t>建议优先级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5431536"/>
            <a:ext cx="36027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7324D"/>
                </a:solidFill>
                <a:latin typeface="PingFang SC"/>
              </a:rPr>
              <a:t>预算提升 &gt; 漏电加权 &gt; 重写算法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5907024"/>
            <a:ext cx="3602736" cy="54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PingFang SC"/>
              </a:rPr>
              <a:t>本轮实验已表明直接漏电加权会让 worst-case 变差。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62672" y="1078992"/>
            <a:ext cx="1883664" cy="2304288"/>
          </a:xfrm>
          <a:prstGeom prst="roundRect">
            <a:avLst/>
          </a:prstGeom>
          <a:solidFill>
            <a:srgbClr val="FFFDFC"/>
          </a:solidFill>
          <a:ln>
            <a:solidFill>
              <a:srgbClr val="D9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27264" y="117043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324D"/>
                </a:solidFill>
                <a:latin typeface="PingFang SC"/>
              </a:rPr>
              <a:t>vtsat heatmap</a:t>
            </a:r>
          </a:p>
        </p:txBody>
      </p:sp>
      <p:pic>
        <p:nvPicPr>
          <p:cNvPr id="11" name="Picture 10" descr="error_heatmap_vtsat_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517904"/>
            <a:ext cx="1609344" cy="1728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637776" y="1078992"/>
            <a:ext cx="1883664" cy="2304288"/>
          </a:xfrm>
          <a:prstGeom prst="roundRect">
            <a:avLst/>
          </a:prstGeom>
          <a:solidFill>
            <a:srgbClr val="FFFDFC"/>
          </a:solidFill>
          <a:ln>
            <a:solidFill>
              <a:srgbClr val="D9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02367" y="117043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324D"/>
                </a:solidFill>
                <a:latin typeface="PingFang SC"/>
              </a:rPr>
              <a:t>vtlin heatmap</a:t>
            </a:r>
          </a:p>
        </p:txBody>
      </p:sp>
      <p:pic>
        <p:nvPicPr>
          <p:cNvPr id="14" name="Picture 13" descr="error_heatmap_vtlin_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4936" y="1517904"/>
            <a:ext cx="1609344" cy="172821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662672" y="3675887"/>
            <a:ext cx="3858768" cy="2432304"/>
          </a:xfrm>
          <a:prstGeom prst="roundRect">
            <a:avLst/>
          </a:prstGeom>
          <a:solidFill>
            <a:srgbClr val="FFFDFC"/>
          </a:solidFill>
          <a:ln>
            <a:solidFill>
              <a:srgbClr val="D9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27264" y="3767327"/>
            <a:ext cx="3529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324D"/>
                </a:solidFill>
                <a:latin typeface="PingFang SC"/>
              </a:rPr>
              <a:t>pareto front</a:t>
            </a:r>
          </a:p>
        </p:txBody>
      </p:sp>
      <p:pic>
        <p:nvPicPr>
          <p:cNvPr id="17" name="Picture 16" descr="pareto_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9832" y="4114800"/>
            <a:ext cx="3584448" cy="18562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BSIM4 Calibration Progress Summary</dc:title>
  <dc:subject>Project progress and calibration results</dc:subject>
  <dc:creator>OpenAI 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